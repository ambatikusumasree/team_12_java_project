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7" r:id="rId11"/>
    <p:sldId id="266"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1448" autoAdjust="0"/>
    <p:restoredTop sz="94660"/>
  </p:normalViewPr>
  <p:slideViewPr>
    <p:cSldViewPr snapToGrid="0">
      <p:cViewPr>
        <p:scale>
          <a:sx n="70" d="100"/>
          <a:sy n="70" d="100"/>
        </p:scale>
        <p:origin x="-644" y="2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pPr/>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pPr/>
              <a:t>‹#›</a:t>
            </a:fld>
            <a:endParaRPr lang="en-IN"/>
          </a:p>
        </p:txBody>
      </p:sp>
    </p:spTree>
    <p:extLst>
      <p:ext uri="{BB962C8B-B14F-4D97-AF65-F5344CB8AC3E}">
        <p14:creationId xmlns=""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IN"/>
          </a:p>
        </p:txBody>
      </p:sp>
      <p:sp>
        <p:nvSpPr>
          <p:cNvPr id="10" name="Picture Placeholder 9">
            <a:extLst>
              <a:ext uri="{FF2B5EF4-FFF2-40B4-BE49-F238E27FC236}">
                <a16:creationId xmlns=""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930F4BF4-0D93-4F1E-82BB-778F1EDDD45F}" type="datetime1">
              <a:rPr lang="en-IN" smtClean="0"/>
              <a:pPr/>
              <a:t>16-10-2026</a:t>
            </a:fld>
            <a:endParaRPr lang="en-IN"/>
          </a:p>
        </p:txBody>
      </p:sp>
      <p:sp>
        <p:nvSpPr>
          <p:cNvPr id="14" name="Slide Number Placeholder 13">
            <a:extLst>
              <a:ext uri="{FF2B5EF4-FFF2-40B4-BE49-F238E27FC236}">
                <a16:creationId xmlns=""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297434149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extLst>
    <p:ext uri="{DCECCB84-F9BA-43D5-87BE-67443E8EF086}">
      <p15:sldGuideLst xmlns=""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19139820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IN"/>
          </a:p>
        </p:txBody>
      </p:sp>
      <p:sp>
        <p:nvSpPr>
          <p:cNvPr id="5" name="Date Placeholder 4">
            <a:extLst>
              <a:ext uri="{FF2B5EF4-FFF2-40B4-BE49-F238E27FC236}">
                <a16:creationId xmlns="" xmlns:a16="http://schemas.microsoft.com/office/drawing/2014/main" id="{BEAA6162-61A3-2C41-311C-F407FC4B4DA9}"/>
              </a:ext>
            </a:extLst>
          </p:cNvPr>
          <p:cNvSpPr>
            <a:spLocks noGrp="1"/>
          </p:cNvSpPr>
          <p:nvPr>
            <p:ph type="dt" sz="half" idx="14"/>
          </p:nvPr>
        </p:nvSpPr>
        <p:spPr/>
        <p:txBody>
          <a:bodyPr/>
          <a:lstStyle/>
          <a:p>
            <a:fld id="{930F4BF4-0D93-4F1E-82BB-778F1EDDD45F}" type="datetime1">
              <a:rPr lang="en-IN" smtClean="0"/>
              <a:pPr/>
              <a:t>16-10-2026</a:t>
            </a:fld>
            <a:endParaRPr lang="en-IN"/>
          </a:p>
        </p:txBody>
      </p:sp>
      <p:cxnSp>
        <p:nvCxnSpPr>
          <p:cNvPr id="4" name="Straight Connector 3">
            <a:extLst>
              <a:ext uri="{FF2B5EF4-FFF2-40B4-BE49-F238E27FC236}">
                <a16:creationId xmlns="" xmlns:a16="http://schemas.microsoft.com/office/drawing/2014/main" id="{1DABF624-39B6-C7A2-98E7-26593626B429}"/>
              </a:ext>
              <a:ext uri="{C183D7F6-B498-43B3-948B-1728B52AA6E4}">
                <adec:decorative xmlns=""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 xmlns:a16="http://schemas.microsoft.com/office/drawing/2014/main" id="{BE6B102F-64E7-9387-1F8F-DB4AC825773A}"/>
              </a:ext>
            </a:extLst>
          </p:cNvPr>
          <p:cNvSpPr>
            <a:spLocks noGrp="1"/>
          </p:cNvSpPr>
          <p:nvPr>
            <p:ph type="sldNum" sz="quarter" idx="16"/>
          </p:nvPr>
        </p:nvSpPr>
        <p:spPr/>
        <p:txBody>
          <a:body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187996283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extLst>
    <p:ext uri="{DCECCB84-F9BA-43D5-87BE-67443E8EF086}">
      <p15:sldGuideLst xmlns=""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 xmlns:a16="http://schemas.microsoft.com/office/drawing/2014/main" id="{A10B934F-7AD0-6CA4-BC4D-9CC30854BF9C}"/>
              </a:ext>
              <a:ext uri="{C183D7F6-B498-43B3-948B-1728B52AA6E4}">
                <adec:decorative xmlns=""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 xmlns:a16="http://schemas.microsoft.com/office/drawing/2014/main" id="{17FF6486-38AE-54F6-E2F3-8B944C3F1B94}"/>
              </a:ext>
            </a:extLst>
          </p:cNvPr>
          <p:cNvSpPr>
            <a:spLocks noGrp="1"/>
          </p:cNvSpPr>
          <p:nvPr>
            <p:ph type="ftr" sz="quarter" idx="11"/>
          </p:nvPr>
        </p:nvSpPr>
        <p:spPr/>
        <p:txBody>
          <a:bodyPr/>
          <a:lstStyle/>
          <a:p>
            <a:endParaRPr lang="en-IN"/>
          </a:p>
        </p:txBody>
      </p:sp>
      <p:sp>
        <p:nvSpPr>
          <p:cNvPr id="16" name="Text Placeholder 15">
            <a:extLst>
              <a:ext uri="{FF2B5EF4-FFF2-40B4-BE49-F238E27FC236}">
                <a16:creationId xmlns=""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 xmlns:a16="http://schemas.microsoft.com/office/drawing/2014/main" id="{68FD0054-227E-4953-9BB1-7141F90243F6}"/>
              </a:ext>
            </a:extLst>
          </p:cNvPr>
          <p:cNvSpPr>
            <a:spLocks noGrp="1"/>
          </p:cNvSpPr>
          <p:nvPr>
            <p:ph type="dt" sz="half" idx="10"/>
          </p:nvPr>
        </p:nvSpPr>
        <p:spPr/>
        <p:txBody>
          <a:body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8542E0F1-15E9-E241-9959-A6D46B69EE92}"/>
              </a:ext>
            </a:extLst>
          </p:cNvPr>
          <p:cNvSpPr>
            <a:spLocks noGrp="1"/>
          </p:cNvSpPr>
          <p:nvPr>
            <p:ph type="sldNum" sz="quarter" idx="12"/>
          </p:nvPr>
        </p:nvSpPr>
        <p:spPr/>
        <p:txBody>
          <a:body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41093827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extLst>
    <p:ext uri="{DCECCB84-F9BA-43D5-87BE-67443E8EF086}">
      <p15:sldGuideLst xmlns=""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cxnSp>
        <p:nvCxnSpPr>
          <p:cNvPr id="7" name="Straight Connector 6">
            <a:extLst>
              <a:ext uri="{FF2B5EF4-FFF2-40B4-BE49-F238E27FC236}">
                <a16:creationId xmlns="" xmlns:a16="http://schemas.microsoft.com/office/drawing/2014/main" id="{C4D523C5-E38D-F0DE-48C0-B6B8404B63BF}"/>
              </a:ext>
              <a:ext uri="{C183D7F6-B498-43B3-948B-1728B52AA6E4}">
                <adec:decorative xmlns=""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9465907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extLst>
    <p:ext uri="{DCECCB84-F9BA-43D5-87BE-67443E8EF086}">
      <p15:sldGuideLst xmlns=""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28782246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Picture Placeholder 7">
            <a:extLst>
              <a:ext uri="{FF2B5EF4-FFF2-40B4-BE49-F238E27FC236}">
                <a16:creationId xmlns=""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cxnSp>
        <p:nvCxnSpPr>
          <p:cNvPr id="7" name="Straight Connector 6">
            <a:extLst>
              <a:ext uri="{FF2B5EF4-FFF2-40B4-BE49-F238E27FC236}">
                <a16:creationId xmlns="" xmlns:a16="http://schemas.microsoft.com/office/drawing/2014/main" id="{ECD2C868-CE73-A5B1-1389-62A23B14E008}"/>
              </a:ext>
              <a:ext uri="{C183D7F6-B498-43B3-948B-1728B52AA6E4}">
                <adec:decorative xmlns=""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25315087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cxnSp>
        <p:nvCxnSpPr>
          <p:cNvPr id="3" name="Straight Connector 2">
            <a:extLst>
              <a:ext uri="{FF2B5EF4-FFF2-40B4-BE49-F238E27FC236}">
                <a16:creationId xmlns="" xmlns:a16="http://schemas.microsoft.com/office/drawing/2014/main" id="{EF4378AB-83E7-8777-F6CD-8F19BA4FEE73}"/>
              </a:ext>
              <a:ext uri="{C183D7F6-B498-43B3-948B-1728B52AA6E4}">
                <adec:decorative xmlns=""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41681688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cxnSp>
        <p:nvCxnSpPr>
          <p:cNvPr id="3" name="Straight Connector 2">
            <a:extLst>
              <a:ext uri="{FF2B5EF4-FFF2-40B4-BE49-F238E27FC236}">
                <a16:creationId xmlns="" xmlns:a16="http://schemas.microsoft.com/office/drawing/2014/main" id="{C8293A07-68F2-BD10-B738-E87F3F3D8CF3}"/>
              </a:ext>
              <a:ext uri="{C183D7F6-B498-43B3-948B-1728B52AA6E4}">
                <adec:decorative xmlns=""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47877096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IN"/>
          </a:p>
        </p:txBody>
      </p:sp>
      <p:sp>
        <p:nvSpPr>
          <p:cNvPr id="9" name="Date Placeholder 4">
            <a:extLst>
              <a:ext uri="{FF2B5EF4-FFF2-40B4-BE49-F238E27FC236}">
                <a16:creationId xmlns=""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930F4BF4-0D93-4F1E-82BB-778F1EDDD45F}" type="datetime1">
              <a:rPr lang="en-IN" smtClean="0"/>
              <a:pPr/>
              <a:t>16-10-2026</a:t>
            </a:fld>
            <a:endParaRPr lang="en-IN"/>
          </a:p>
        </p:txBody>
      </p:sp>
      <p:sp>
        <p:nvSpPr>
          <p:cNvPr id="11" name="Slide Number Placeholder 6">
            <a:extLst>
              <a:ext uri="{FF2B5EF4-FFF2-40B4-BE49-F238E27FC236}">
                <a16:creationId xmlns=""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CB012AB6-14AF-4351-87AD-D420B05274E1}" type="slidenum">
              <a:rPr lang="en-IN" smtClean="0"/>
              <a:pPr/>
              <a:t>‹#›</a:t>
            </a:fld>
            <a:endParaRPr lang="en-IN"/>
          </a:p>
        </p:txBody>
      </p:sp>
      <p:cxnSp>
        <p:nvCxnSpPr>
          <p:cNvPr id="3" name="Straight Connector 2">
            <a:extLst>
              <a:ext uri="{FF2B5EF4-FFF2-40B4-BE49-F238E27FC236}">
                <a16:creationId xmlns="" xmlns:a16="http://schemas.microsoft.com/office/drawing/2014/main" id="{50E2A219-E459-07B3-1ED3-CBF7D239BE08}"/>
              </a:ext>
              <a:ext uri="{C183D7F6-B498-43B3-948B-1728B52AA6E4}">
                <adec:decorative xmlns=""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4841525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 xmlns:a16="http://schemas.microsoft.com/office/drawing/2014/main" id="{DF483F68-3490-71E7-A7DA-DA46BC485F75}"/>
              </a:ext>
              <a:ext uri="{C183D7F6-B498-43B3-948B-1728B52AA6E4}">
                <adec:decorative xmlns=""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930F4BF4-0D93-4F1E-82BB-778F1EDDD45F}" type="datetime1">
              <a:rPr lang="en-IN" smtClean="0"/>
              <a:pPr/>
              <a:t>16-10-2026</a:t>
            </a:fld>
            <a:endParaRPr lang="en-IN"/>
          </a:p>
        </p:txBody>
      </p:sp>
      <p:sp>
        <p:nvSpPr>
          <p:cNvPr id="9" name="Footer Placeholder 8">
            <a:extLst>
              <a:ext uri="{FF2B5EF4-FFF2-40B4-BE49-F238E27FC236}">
                <a16:creationId xmlns=""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IN"/>
          </a:p>
        </p:txBody>
      </p:sp>
      <p:sp>
        <p:nvSpPr>
          <p:cNvPr id="10" name="Slide Number Placeholder 9">
            <a:extLst>
              <a:ext uri="{FF2B5EF4-FFF2-40B4-BE49-F238E27FC236}">
                <a16:creationId xmlns="" xmlns:a16="http://schemas.microsoft.com/office/drawing/2014/main" id="{3CD01CE4-E064-7D2F-7D3A-9DA85E2777F2}"/>
              </a:ext>
            </a:extLst>
          </p:cNvPr>
          <p:cNvSpPr>
            <a:spLocks noGrp="1"/>
          </p:cNvSpPr>
          <p:nvPr>
            <p:ph type="sldNum" sz="quarter" idx="17"/>
          </p:nvPr>
        </p:nvSpPr>
        <p:spPr/>
        <p:txBody>
          <a:body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257203869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 xmlns:a16="http://schemas.microsoft.com/office/drawing/2014/main" id="{9BC07157-DE89-FE2F-0547-2E4055913A13}"/>
              </a:ext>
              <a:ext uri="{C183D7F6-B498-43B3-948B-1728B52AA6E4}">
                <adec:decorative xmlns=""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930F4BF4-0D93-4F1E-82BB-778F1EDDD45F}" type="datetime1">
              <a:rPr lang="en-IN" smtClean="0"/>
              <a:pPr/>
              <a:t>16-10-2026</a:t>
            </a:fld>
            <a:endParaRPr lang="en-IN"/>
          </a:p>
        </p:txBody>
      </p:sp>
      <p:sp>
        <p:nvSpPr>
          <p:cNvPr id="7" name="Footer Placeholder 6">
            <a:extLst>
              <a:ext uri="{FF2B5EF4-FFF2-40B4-BE49-F238E27FC236}">
                <a16:creationId xmlns=""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9" name="Slide Number Placeholder 8">
            <a:extLst>
              <a:ext uri="{FF2B5EF4-FFF2-40B4-BE49-F238E27FC236}">
                <a16:creationId xmlns=""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38160147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 xmlns:a16="http://schemas.microsoft.com/office/drawing/2014/main" id="{3C626C00-7A36-46A2-880D-F484910B3412}"/>
              </a:ext>
              <a:ext uri="{C183D7F6-B498-43B3-948B-1728B52AA6E4}">
                <adec:decorative xmlns=""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930F4BF4-0D93-4F1E-82BB-778F1EDDD45F}" type="datetime1">
              <a:rPr lang="en-IN" smtClean="0"/>
              <a:pPr/>
              <a:t>16-10-2026</a:t>
            </a:fld>
            <a:endParaRPr lang="en-IN"/>
          </a:p>
        </p:txBody>
      </p:sp>
      <p:sp>
        <p:nvSpPr>
          <p:cNvPr id="5" name="Footer Placeholder 4">
            <a:extLst>
              <a:ext uri="{FF2B5EF4-FFF2-40B4-BE49-F238E27FC236}">
                <a16:creationId xmlns=""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IN"/>
          </a:p>
        </p:txBody>
      </p:sp>
      <p:sp>
        <p:nvSpPr>
          <p:cNvPr id="6" name="Slide Number Placeholder 5">
            <a:extLst>
              <a:ext uri="{FF2B5EF4-FFF2-40B4-BE49-F238E27FC236}">
                <a16:creationId xmlns=""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2032522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 xmlns:a16="http://schemas.microsoft.com/office/drawing/2014/main" id="{1481977D-48BC-F135-96F9-1655E4BEE673}"/>
              </a:ext>
              <a:ext uri="{C183D7F6-B498-43B3-948B-1728B52AA6E4}">
                <adec:decorative xmlns=""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930F4BF4-0D93-4F1E-82BB-778F1EDDD45F}" type="datetime1">
              <a:rPr lang="en-IN" smtClean="0"/>
              <a:pPr/>
              <a:t>16-10-2026</a:t>
            </a:fld>
            <a:endParaRPr lang="en-IN"/>
          </a:p>
        </p:txBody>
      </p:sp>
      <p:sp>
        <p:nvSpPr>
          <p:cNvPr id="6" name="Footer Placeholder 4">
            <a:extLst>
              <a:ext uri="{FF2B5EF4-FFF2-40B4-BE49-F238E27FC236}">
                <a16:creationId xmlns=""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281925453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 xmlns:a16="http://schemas.microsoft.com/office/drawing/2014/main" id="{B18BEB48-A052-9364-6EF6-F698004CA571}"/>
              </a:ext>
              <a:ext uri="{C183D7F6-B498-43B3-948B-1728B52AA6E4}">
                <adec:decorative xmlns=""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930F4BF4-0D93-4F1E-82BB-778F1EDDD45F}" type="datetime1">
              <a:rPr lang="en-IN" smtClean="0"/>
              <a:pPr/>
              <a:t>16-10-2026</a:t>
            </a:fld>
            <a:endParaRPr lang="en-IN"/>
          </a:p>
        </p:txBody>
      </p:sp>
      <p:sp>
        <p:nvSpPr>
          <p:cNvPr id="6" name="Footer Placeholder 4">
            <a:extLst>
              <a:ext uri="{FF2B5EF4-FFF2-40B4-BE49-F238E27FC236}">
                <a16:creationId xmlns=""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2302932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IN"/>
          </a:p>
        </p:txBody>
      </p:sp>
      <p:sp>
        <p:nvSpPr>
          <p:cNvPr id="8" name="Content Placeholder 7">
            <a:extLst>
              <a:ext uri="{FF2B5EF4-FFF2-40B4-BE49-F238E27FC236}">
                <a16:creationId xmlns=""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930F4BF4-0D93-4F1E-82BB-778F1EDDD45F}" type="datetime1">
              <a:rPr lang="en-IN" smtClean="0"/>
              <a:pPr/>
              <a:t>16-10-2026</a:t>
            </a:fld>
            <a:endParaRPr lang="en-IN"/>
          </a:p>
        </p:txBody>
      </p:sp>
      <p:sp>
        <p:nvSpPr>
          <p:cNvPr id="7" name="Slide Number Placeholder 6">
            <a:extLst>
              <a:ext uri="{FF2B5EF4-FFF2-40B4-BE49-F238E27FC236}">
                <a16:creationId xmlns=""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cxnSp>
        <p:nvCxnSpPr>
          <p:cNvPr id="3" name="Straight Connector 2">
            <a:extLst>
              <a:ext uri="{FF2B5EF4-FFF2-40B4-BE49-F238E27FC236}">
                <a16:creationId xmlns="" xmlns:a16="http://schemas.microsoft.com/office/drawing/2014/main" id="{2A2B6090-1D21-5610-7943-4C4F96A6C767}"/>
              </a:ext>
              <a:ext uri="{C183D7F6-B498-43B3-948B-1728B52AA6E4}">
                <adec:decorative xmlns=""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4033952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16" name="Picture Placeholder 15">
            <a:extLst>
              <a:ext uri="{FF2B5EF4-FFF2-40B4-BE49-F238E27FC236}">
                <a16:creationId xmlns=""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7" name="Slide Number Placeholder 6">
            <a:extLst>
              <a:ext uri="{FF2B5EF4-FFF2-40B4-BE49-F238E27FC236}">
                <a16:creationId xmlns=""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cxnSp>
        <p:nvCxnSpPr>
          <p:cNvPr id="3" name="Straight Connector 2">
            <a:extLst>
              <a:ext uri="{FF2B5EF4-FFF2-40B4-BE49-F238E27FC236}">
                <a16:creationId xmlns="" xmlns:a16="http://schemas.microsoft.com/office/drawing/2014/main" id="{619C3A72-7CAE-129F-7490-B687280EF1C9}"/>
              </a:ext>
              <a:ext uri="{C183D7F6-B498-43B3-948B-1728B52AA6E4}">
                <adec:decorative xmlns=""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73967209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IN"/>
          </a:p>
        </p:txBody>
      </p:sp>
      <p:sp>
        <p:nvSpPr>
          <p:cNvPr id="3" name="Date Placeholder 4">
            <a:extLst>
              <a:ext uri="{FF2B5EF4-FFF2-40B4-BE49-F238E27FC236}">
                <a16:creationId xmlns=""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930F4BF4-0D93-4F1E-82BB-778F1EDDD45F}" type="datetime1">
              <a:rPr lang="en-IN" smtClean="0"/>
              <a:pPr/>
              <a:t>16-10-2026</a:t>
            </a:fld>
            <a:endParaRPr lang="en-IN"/>
          </a:p>
        </p:txBody>
      </p:sp>
      <p:sp>
        <p:nvSpPr>
          <p:cNvPr id="6" name="Slide Number Placeholder 6">
            <a:extLst>
              <a:ext uri="{FF2B5EF4-FFF2-40B4-BE49-F238E27FC236}">
                <a16:creationId xmlns=""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CB012AB6-14AF-4351-87AD-D420B05274E1}" type="slidenum">
              <a:rPr lang="en-IN" smtClean="0"/>
              <a:pPr/>
              <a:t>‹#›</a:t>
            </a:fld>
            <a:endParaRPr lang="en-IN"/>
          </a:p>
        </p:txBody>
      </p:sp>
      <p:sp>
        <p:nvSpPr>
          <p:cNvPr id="8" name="Content Placeholder 7">
            <a:extLst>
              <a:ext uri="{FF2B5EF4-FFF2-40B4-BE49-F238E27FC236}">
                <a16:creationId xmlns=""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 xmlns:p14="http://schemas.microsoft.com/office/powerpoint/2010/main" val="346568319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9" name="Content Placeholder 8">
            <a:extLst>
              <a:ext uri="{FF2B5EF4-FFF2-40B4-BE49-F238E27FC236}">
                <a16:creationId xmlns=""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cxnSp>
        <p:nvCxnSpPr>
          <p:cNvPr id="7" name="Straight Connector 6">
            <a:extLst>
              <a:ext uri="{FF2B5EF4-FFF2-40B4-BE49-F238E27FC236}">
                <a16:creationId xmlns=""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27176196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extLst>
    <p:ext uri="{DCECCB84-F9BA-43D5-87BE-67443E8EF086}">
      <p15:sldGuideLst xmlns=""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Content Placeholder 6">
            <a:extLst>
              <a:ext uri="{FF2B5EF4-FFF2-40B4-BE49-F238E27FC236}">
                <a16:creationId xmlns=""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5" name="Slide Number Placeholder 4">
            <a:extLst>
              <a:ext uri="{FF2B5EF4-FFF2-40B4-BE49-F238E27FC236}">
                <a16:creationId xmlns=""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
        <p:nvSpPr>
          <p:cNvPr id="6" name="Freeform: Shape 15">
            <a:extLst>
              <a:ext uri="{FF2B5EF4-FFF2-40B4-BE49-F238E27FC236}">
                <a16:creationId xmlns="" xmlns:a16="http://schemas.microsoft.com/office/drawing/2014/main" id="{8EFA7EFC-C6F9-B1D5-025F-824C1CE9A204}"/>
              </a:ext>
              <a:ext uri="{C183D7F6-B498-43B3-948B-1728B52AA6E4}">
                <adec:decorative xmlns=""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 xmlns:p14="http://schemas.microsoft.com/office/powerpoint/2010/main" val="260431803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8">
            <a:extLst>
              <a:ext uri="{FF2B5EF4-FFF2-40B4-BE49-F238E27FC236}">
                <a16:creationId xmlns=""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 xmlns:a16="http://schemas.microsoft.com/office/drawing/2014/main" id="{9F353A57-FA3C-A68C-4908-E774A52CB1B6}"/>
              </a:ext>
              <a:ext uri="{C183D7F6-B498-43B3-948B-1728B52AA6E4}">
                <adec:decorative xmlns=""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34200350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extLst>
    <p:ext uri="{DCECCB84-F9BA-43D5-87BE-67443E8EF086}">
      <p15:sldGuideLst xmlns=""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Content Placeholder 3">
            <a:extLst>
              <a:ext uri="{FF2B5EF4-FFF2-40B4-BE49-F238E27FC236}">
                <a16:creationId xmlns=""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7" name="Slide Number Placeholder 6">
            <a:extLst>
              <a:ext uri="{FF2B5EF4-FFF2-40B4-BE49-F238E27FC236}">
                <a16:creationId xmlns=""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122802520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Text Placeholder 2">
            <a:extLst>
              <a:ext uri="{FF2B5EF4-FFF2-40B4-BE49-F238E27FC236}">
                <a16:creationId xmlns=""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9" name="Slide Number Placeholder 8">
            <a:extLst>
              <a:ext uri="{FF2B5EF4-FFF2-40B4-BE49-F238E27FC236}">
                <a16:creationId xmlns=""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795671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5" name="Slide Number Placeholder 4">
            <a:extLst>
              <a:ext uri="{FF2B5EF4-FFF2-40B4-BE49-F238E27FC236}">
                <a16:creationId xmlns=""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374577482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4" name="Slide Number Placeholder 3">
            <a:extLst>
              <a:ext uri="{FF2B5EF4-FFF2-40B4-BE49-F238E27FC236}">
                <a16:creationId xmlns=""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302418046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IN"/>
          </a:p>
        </p:txBody>
      </p:sp>
      <p:sp>
        <p:nvSpPr>
          <p:cNvPr id="8" name="Content Placeholder 7">
            <a:extLst>
              <a:ext uri="{FF2B5EF4-FFF2-40B4-BE49-F238E27FC236}">
                <a16:creationId xmlns=""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251693788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Content Placeholder 7">
            <a:extLst>
              <a:ext uri="{FF2B5EF4-FFF2-40B4-BE49-F238E27FC236}">
                <a16:creationId xmlns=""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B012AB6-14AF-4351-87AD-D420B05274E1}" type="slidenum">
              <a:rPr lang="en-IN" smtClean="0"/>
              <a:pPr/>
              <a:t>‹#›</a:t>
            </a:fld>
            <a:endParaRPr lang="en-IN"/>
          </a:p>
        </p:txBody>
      </p:sp>
    </p:spTree>
    <p:extLst>
      <p:ext uri="{BB962C8B-B14F-4D97-AF65-F5344CB8AC3E}">
        <p14:creationId xmlns="" xmlns:p14="http://schemas.microsoft.com/office/powerpoint/2010/main" val="193395700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extLst>
    <p:ext uri="{DCECCB84-F9BA-43D5-87BE-67443E8EF086}">
      <p15:sldGuideLst xmlns=""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pPr/>
              <a:t>16-10-2026</a:t>
            </a:fld>
            <a:endParaRPr lang="en-IN"/>
          </a:p>
        </p:txBody>
      </p:sp>
      <p:sp>
        <p:nvSpPr>
          <p:cNvPr id="5" name="Footer Placeholder 4">
            <a:extLst>
              <a:ext uri="{FF2B5EF4-FFF2-40B4-BE49-F238E27FC236}">
                <a16:creationId xmlns=""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pPr/>
              <a:t>‹#›</a:t>
            </a:fld>
            <a:endParaRPr lang="en-IN"/>
          </a:p>
        </p:txBody>
      </p:sp>
      <p:pic>
        <p:nvPicPr>
          <p:cNvPr id="8" name="Picture 7">
            <a:extLst>
              <a:ext uri="{FF2B5EF4-FFF2-40B4-BE49-F238E27FC236}">
                <a16:creationId xmlns="" xmlns:a16="http://schemas.microsoft.com/office/drawing/2014/main" id="{EEB3F1FD-0147-797C-0ED6-E694A2BD6240}"/>
              </a:ext>
            </a:extLst>
          </p:cNvPr>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 xmlns:p14="http://schemas.microsoft.com/office/powerpoint/2010/main" val="15439194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pPr/>
              <a:t>16-10-2026</a:t>
            </a:fld>
            <a:endParaRPr lang="en-IN"/>
          </a:p>
        </p:txBody>
      </p:sp>
      <p:sp>
        <p:nvSpPr>
          <p:cNvPr id="5" name="Footer Placeholder 4">
            <a:extLst>
              <a:ext uri="{FF2B5EF4-FFF2-40B4-BE49-F238E27FC236}">
                <a16:creationId xmlns=""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pPr/>
              <a:t>‹#›</a:t>
            </a:fld>
            <a:endParaRPr lang="en-IN"/>
          </a:p>
        </p:txBody>
      </p:sp>
      <p:pic>
        <p:nvPicPr>
          <p:cNvPr id="8" name="Picture 7">
            <a:extLst>
              <a:ext uri="{FF2B5EF4-FFF2-40B4-BE49-F238E27FC236}">
                <a16:creationId xmlns="" xmlns:a16="http://schemas.microsoft.com/office/drawing/2014/main" id="{5381CCB4-DDFA-058A-AE03-5A3CFCA9F8C8}"/>
              </a:ext>
            </a:extLst>
          </p:cNvPr>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 xmlns:p14="http://schemas.microsoft.com/office/powerpoint/2010/main" val="364835763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IN"/>
          </a:p>
        </p:txBody>
      </p:sp>
      <p:sp>
        <p:nvSpPr>
          <p:cNvPr id="3" name="Text Placeholder 2">
            <a:extLst>
              <a:ext uri="{FF2B5EF4-FFF2-40B4-BE49-F238E27FC236}">
                <a16:creationId xmlns=""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930F4BF4-0D93-4F1E-82BB-778F1EDDD45F}" type="datetime1">
              <a:rPr lang="en-IN" smtClean="0"/>
              <a:pPr/>
              <a:t>16-10-2026</a:t>
            </a:fld>
            <a:endParaRPr lang="en-IN"/>
          </a:p>
        </p:txBody>
      </p:sp>
      <p:sp>
        <p:nvSpPr>
          <p:cNvPr id="6" name="Slide Number Placeholder 5">
            <a:extLst>
              <a:ext uri="{FF2B5EF4-FFF2-40B4-BE49-F238E27FC236}">
                <a16:creationId xmlns=""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CB012AB6-14AF-4351-87AD-D420B05274E1}" type="slidenum">
              <a:rPr lang="en-IN" smtClean="0"/>
              <a:pPr/>
              <a:t>‹#›</a:t>
            </a:fld>
            <a:endParaRPr lang="en-IN"/>
          </a:p>
        </p:txBody>
      </p:sp>
      <p:cxnSp>
        <p:nvCxnSpPr>
          <p:cNvPr id="13" name="Straight Connector 12">
            <a:extLst>
              <a:ext uri="{FF2B5EF4-FFF2-40B4-BE49-F238E27FC236}">
                <a16:creationId xmlns=""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67560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ft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mbatikusumasree" TargetMode="External"/><Relationship Id="rId2" Type="http://schemas.openxmlformats.org/officeDocument/2006/relationships/hyperlink" Target="https://github.com/saanvikanuganti" TargetMode="External"/><Relationship Id="rId1" Type="http://schemas.openxmlformats.org/officeDocument/2006/relationships/slideLayout" Target="../slideLayouts/slideLayout29.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C0CCFF-527E-4AC9-A45F-A8196F49E0C3}"/>
              </a:ext>
            </a:extLst>
          </p:cNvPr>
          <p:cNvSpPr>
            <a:spLocks noGrp="1"/>
          </p:cNvSpPr>
          <p:nvPr>
            <p:ph type="ctrTitle"/>
          </p:nvPr>
        </p:nvSpPr>
        <p:spPr>
          <a:xfrm>
            <a:off x="1848465" y="1481697"/>
            <a:ext cx="8917858" cy="2706691"/>
          </a:xfrm>
        </p:spPr>
        <p:txBody>
          <a:bodyPr>
            <a:normAutofit fontScale="90000"/>
          </a:bodyPr>
          <a:lstStyle/>
          <a:p>
            <a:r>
              <a:rPr lang="en-IN" dirty="0"/>
              <a:t> </a:t>
            </a:r>
            <a:r>
              <a:rPr lang="en-IN" b="1" dirty="0"/>
              <a:t>Monthly Expense and Budget Analyzer</a:t>
            </a:r>
            <a:r>
              <a:rPr lang="en-IN" dirty="0"/>
              <a:t/>
            </a:r>
            <a:br>
              <a:rPr lang="en-IN" dirty="0"/>
            </a:br>
            <a:endParaRPr lang="en-IN" dirty="0"/>
          </a:p>
        </p:txBody>
      </p:sp>
      <p:sp>
        <p:nvSpPr>
          <p:cNvPr id="3" name="Subtitle 2">
            <a:extLst>
              <a:ext uri="{FF2B5EF4-FFF2-40B4-BE49-F238E27FC236}">
                <a16:creationId xmlns="" xmlns:a16="http://schemas.microsoft.com/office/drawing/2014/main" id="{A452AC95-AA7D-A76A-037F-6B2DB5A27E48}"/>
              </a:ext>
            </a:extLst>
          </p:cNvPr>
          <p:cNvSpPr>
            <a:spLocks noGrp="1"/>
          </p:cNvSpPr>
          <p:nvPr>
            <p:ph type="subTitle" idx="1"/>
          </p:nvPr>
        </p:nvSpPr>
        <p:spPr/>
        <p:txBody>
          <a:bodyPr/>
          <a:lstStyle/>
          <a:p>
            <a:r>
              <a:rPr lang="en-IN" dirty="0"/>
              <a:t>Student Name </a:t>
            </a:r>
            <a:r>
              <a:rPr lang="en-IN" b="1" dirty="0"/>
              <a:t>K . Saanvi</a:t>
            </a:r>
            <a:r>
              <a:rPr lang="en-IN" dirty="0"/>
              <a:t>	             Roll No </a:t>
            </a:r>
            <a:r>
              <a:rPr lang="en-IN" b="1" dirty="0"/>
              <a:t>2620090044</a:t>
            </a:r>
            <a:endParaRPr lang="en-IN" dirty="0"/>
          </a:p>
          <a:p>
            <a:r>
              <a:rPr lang="en-IN" dirty="0"/>
              <a:t>Student Name </a:t>
            </a:r>
            <a:r>
              <a:rPr lang="en-IN" b="1" dirty="0"/>
              <a:t>A . Kusuma Sree</a:t>
            </a:r>
            <a:r>
              <a:rPr lang="en-IN" dirty="0"/>
              <a:t>	Roll No </a:t>
            </a:r>
            <a:r>
              <a:rPr lang="en-IN" b="1" dirty="0"/>
              <a:t>2620030511</a:t>
            </a:r>
            <a:endParaRPr lang="en-IN" dirty="0"/>
          </a:p>
          <a:p>
            <a:endParaRPr lang="en-IN" dirty="0"/>
          </a:p>
        </p:txBody>
      </p:sp>
      <p:sp>
        <p:nvSpPr>
          <p:cNvPr id="8" name="Date Placeholder 7">
            <a:extLst>
              <a:ext uri="{FF2B5EF4-FFF2-40B4-BE49-F238E27FC236}">
                <a16:creationId xmlns=""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pPr/>
              <a:t>16-10-2026</a:t>
            </a:fld>
            <a:endParaRPr lang="en-IN"/>
          </a:p>
        </p:txBody>
      </p:sp>
      <p:sp>
        <p:nvSpPr>
          <p:cNvPr id="9" name="Slide Number Placeholder 8">
            <a:extLst>
              <a:ext uri="{FF2B5EF4-FFF2-40B4-BE49-F238E27FC236}">
                <a16:creationId xmlns=""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pPr/>
              <a:t>1</a:t>
            </a:fld>
            <a:endParaRPr lang="en-IN"/>
          </a:p>
        </p:txBody>
      </p:sp>
    </p:spTree>
    <p:extLst>
      <p:ext uri="{BB962C8B-B14F-4D97-AF65-F5344CB8AC3E}">
        <p14:creationId xmlns="" xmlns:p14="http://schemas.microsoft.com/office/powerpoint/2010/main" val="157075009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E71AF3-F02C-0F4C-0929-57F8B753540D}"/>
              </a:ext>
            </a:extLst>
          </p:cNvPr>
          <p:cNvSpPr>
            <a:spLocks noGrp="1"/>
          </p:cNvSpPr>
          <p:nvPr>
            <p:ph type="title"/>
          </p:nvPr>
        </p:nvSpPr>
        <p:spPr>
          <a:xfrm>
            <a:off x="610829" y="624319"/>
            <a:ext cx="10515600" cy="1116811"/>
          </a:xfrm>
        </p:spPr>
        <p:txBody>
          <a:bodyPr/>
          <a:lstStyle/>
          <a:p>
            <a:r>
              <a:rPr lang="en-IN" b="1" dirty="0"/>
              <a:t>Abstract</a:t>
            </a:r>
          </a:p>
        </p:txBody>
      </p:sp>
      <p:sp>
        <p:nvSpPr>
          <p:cNvPr id="3" name="Content Placeholder 2">
            <a:extLst>
              <a:ext uri="{FF2B5EF4-FFF2-40B4-BE49-F238E27FC236}">
                <a16:creationId xmlns="" xmlns:a16="http://schemas.microsoft.com/office/drawing/2014/main" id="{D4712F73-2B13-AB30-C0D8-CBA5CE269654}"/>
              </a:ext>
            </a:extLst>
          </p:cNvPr>
          <p:cNvSpPr>
            <a:spLocks noGrp="1"/>
          </p:cNvSpPr>
          <p:nvPr>
            <p:ph idx="1"/>
          </p:nvPr>
        </p:nvSpPr>
        <p:spPr>
          <a:xfrm>
            <a:off x="383458" y="1917291"/>
            <a:ext cx="10970342" cy="4804184"/>
          </a:xfrm>
        </p:spPr>
        <p:txBody>
          <a:bodyPr>
            <a:normAutofit/>
          </a:bodyPr>
          <a:lstStyle/>
          <a:p>
            <a:r>
              <a:rPr lang="en-IN" dirty="0"/>
              <a:t>The </a:t>
            </a:r>
            <a:r>
              <a:rPr lang="en-IN" b="1" dirty="0"/>
              <a:t>Monthly Expense and Budget Analyzer</a:t>
            </a:r>
            <a:r>
              <a:rPr lang="en-IN" dirty="0"/>
              <a:t> is a project developed to help users manage their monthly income, expenses, and budget in a simple and organized way. Nowadays, managing personal money can be difficult for many people. Expenses are often recorded in notebooks, paper receipts, or unorganized spreadsheets. These methods take time and can lead to calculation errors. People may also find it difficult to understand where their money is being spent and how much money is left at the end of the month. To solve these problems, a simple digital system is needed to keep all income and expense details in one place. The proposed system allows users to enter their monthly income, set a budget, and record their daily expenses. Expenses can be divided into different categories such as food, transportation, education, shopping, and entertainment. The system automatically calculates the total amount spent and the remaining budget, making it easier for users to keep track of their money. The system can also organize expenses into </a:t>
            </a:r>
            <a:r>
              <a:rPr lang="en-IN" b="1" dirty="0"/>
              <a:t>Needs, Wants, and Savings.</a:t>
            </a:r>
            <a:r>
              <a:rPr lang="en-IN" dirty="0"/>
              <a:t> This helps users understand their spending habits and identify unnecessary expenses. It can also help them plan their spending and savings more effectively . The main purpose of this project is to reduce manual calculations, save time, and provide a clear view of monthly spending. In the future, the system can be improved by adding monthly reports, savings tracking, budget alerts, and expense charts. Overall, the </a:t>
            </a:r>
            <a:r>
              <a:rPr lang="en-IN" b="1" dirty="0"/>
              <a:t>Monthly Expense and Budget Analyzer</a:t>
            </a:r>
            <a:r>
              <a:rPr lang="en-IN" dirty="0"/>
              <a:t> provides a simple and useful solution for tracking expenses and managing a monthly budget effectively.</a:t>
            </a:r>
          </a:p>
          <a:p>
            <a:endParaRPr lang="en-IN" dirty="0"/>
          </a:p>
        </p:txBody>
      </p:sp>
      <p:sp>
        <p:nvSpPr>
          <p:cNvPr id="4" name="Date Placeholder 3">
            <a:extLst>
              <a:ext uri="{FF2B5EF4-FFF2-40B4-BE49-F238E27FC236}">
                <a16:creationId xmlns=""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pPr/>
              <a:t>16-10-2026</a:t>
            </a:fld>
            <a:endParaRPr lang="en-IN"/>
          </a:p>
        </p:txBody>
      </p:sp>
      <p:sp>
        <p:nvSpPr>
          <p:cNvPr id="5" name="Slide Number Placeholder 4">
            <a:extLst>
              <a:ext uri="{FF2B5EF4-FFF2-40B4-BE49-F238E27FC236}">
                <a16:creationId xmlns=""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pPr/>
              <a:t>2</a:t>
            </a:fld>
            <a:endParaRPr lang="en-IN"/>
          </a:p>
        </p:txBody>
      </p:sp>
    </p:spTree>
    <p:extLst>
      <p:ext uri="{BB962C8B-B14F-4D97-AF65-F5344CB8AC3E}">
        <p14:creationId xmlns="" xmlns:p14="http://schemas.microsoft.com/office/powerpoint/2010/main" val="6763380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D4AC2B-1702-695F-E0B5-9F6550F04B7D}"/>
              </a:ext>
            </a:extLst>
          </p:cNvPr>
          <p:cNvSpPr>
            <a:spLocks noGrp="1"/>
          </p:cNvSpPr>
          <p:nvPr>
            <p:ph type="title"/>
          </p:nvPr>
        </p:nvSpPr>
        <p:spPr/>
        <p:txBody>
          <a:bodyPr>
            <a:normAutofit fontScale="90000"/>
          </a:bodyPr>
          <a:lstStyle/>
          <a:p>
            <a:r>
              <a:rPr lang="en-IN" b="1" dirty="0"/>
              <a:t>Understanding Problem Statement</a:t>
            </a:r>
          </a:p>
        </p:txBody>
      </p:sp>
      <p:sp>
        <p:nvSpPr>
          <p:cNvPr id="3" name="Content Placeholder 2">
            <a:extLst>
              <a:ext uri="{FF2B5EF4-FFF2-40B4-BE49-F238E27FC236}">
                <a16:creationId xmlns="" xmlns:a16="http://schemas.microsoft.com/office/drawing/2014/main" id="{B7ACF377-DEED-0D67-3271-7CBBBC860DA8}"/>
              </a:ext>
            </a:extLst>
          </p:cNvPr>
          <p:cNvSpPr>
            <a:spLocks noGrp="1"/>
          </p:cNvSpPr>
          <p:nvPr>
            <p:ph idx="1"/>
          </p:nvPr>
        </p:nvSpPr>
        <p:spPr>
          <a:xfrm>
            <a:off x="365778" y="1966450"/>
            <a:ext cx="11460444" cy="4646869"/>
          </a:xfrm>
        </p:spPr>
        <p:txBody>
          <a:bodyPr/>
          <a:lstStyle/>
          <a:p>
            <a:r>
              <a:rPr lang="en-IN" sz="2400" dirty="0"/>
              <a:t>Managing monthly income and expenses manually can be difficult and time-consuming. People may record their expenses in notebooks, receipts, or unorganized spreadsheets, which can lead to calculation errors and make it difficult to understand their spending habits. There is also a lack of clear information about how much money has been spent, how much budget is remaining, and where most of the money is being used. Therefore, there is a need for a </a:t>
            </a:r>
            <a:r>
              <a:rPr lang="en-IN" sz="2400" b="1" dirty="0"/>
              <a:t>simple and organized Monthly Expense and Budget Analyzer</a:t>
            </a:r>
            <a:r>
              <a:rPr lang="en-IN" sz="2400" dirty="0"/>
              <a:t> that allows users to record their income, set a monthly budget, categorize expenses, automatically calculate total spending and remaining budget, and organize spending into </a:t>
            </a:r>
            <a:r>
              <a:rPr lang="en-IN" sz="2400" b="1" dirty="0"/>
              <a:t>Needs, Wants, and Savings</a:t>
            </a:r>
            <a:r>
              <a:rPr lang="en-IN" sz="2400" dirty="0"/>
              <a:t>. This system will help users reduce manual calculations, monitor their expenses, and manage their monthly budget more effectively .</a:t>
            </a:r>
          </a:p>
          <a:p>
            <a:endParaRPr lang="en-IN" dirty="0"/>
          </a:p>
        </p:txBody>
      </p:sp>
      <p:sp>
        <p:nvSpPr>
          <p:cNvPr id="4" name="Date Placeholder 3">
            <a:extLst>
              <a:ext uri="{FF2B5EF4-FFF2-40B4-BE49-F238E27FC236}">
                <a16:creationId xmlns=""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pPr/>
              <a:t>16-10-2026</a:t>
            </a:fld>
            <a:endParaRPr lang="en-IN"/>
          </a:p>
        </p:txBody>
      </p:sp>
      <p:sp>
        <p:nvSpPr>
          <p:cNvPr id="5" name="Slide Number Placeholder 4">
            <a:extLst>
              <a:ext uri="{FF2B5EF4-FFF2-40B4-BE49-F238E27FC236}">
                <a16:creationId xmlns=""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pPr/>
              <a:t>3</a:t>
            </a:fld>
            <a:endParaRPr lang="en-IN"/>
          </a:p>
        </p:txBody>
      </p:sp>
    </p:spTree>
    <p:extLst>
      <p:ext uri="{BB962C8B-B14F-4D97-AF65-F5344CB8AC3E}">
        <p14:creationId xmlns="" xmlns:p14="http://schemas.microsoft.com/office/powerpoint/2010/main" val="39800905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154CC5-4FD5-611A-4481-E878E281E2CD}"/>
              </a:ext>
            </a:extLst>
          </p:cNvPr>
          <p:cNvSpPr>
            <a:spLocks noGrp="1"/>
          </p:cNvSpPr>
          <p:nvPr>
            <p:ph type="title"/>
          </p:nvPr>
        </p:nvSpPr>
        <p:spPr/>
        <p:txBody>
          <a:bodyPr/>
          <a:lstStyle/>
          <a:p>
            <a:r>
              <a:rPr lang="en-IN" b="1" dirty="0"/>
              <a:t>CO 1 Topics</a:t>
            </a:r>
          </a:p>
        </p:txBody>
      </p:sp>
      <p:sp>
        <p:nvSpPr>
          <p:cNvPr id="3" name="Content Placeholder 2">
            <a:extLst>
              <a:ext uri="{FF2B5EF4-FFF2-40B4-BE49-F238E27FC236}">
                <a16:creationId xmlns="" xmlns:a16="http://schemas.microsoft.com/office/drawing/2014/main" id="{9AFB5369-B8D0-CB2C-61B6-348BDF6E4004}"/>
              </a:ext>
            </a:extLst>
          </p:cNvPr>
          <p:cNvSpPr>
            <a:spLocks noGrp="1"/>
          </p:cNvSpPr>
          <p:nvPr>
            <p:ph idx="1"/>
          </p:nvPr>
        </p:nvSpPr>
        <p:spPr/>
        <p:txBody>
          <a:bodyPr>
            <a:normAutofit/>
          </a:bodyPr>
          <a:lstStyle/>
          <a:p>
            <a:pPr marL="285750" indent="-285750">
              <a:buFont typeface="Wingdings" panose="05000000000000000000" pitchFamily="2" charset="2"/>
              <a:buChar char="q"/>
            </a:pPr>
            <a:r>
              <a:rPr lang="en-IN" sz="2000" b="1" dirty="0"/>
              <a:t>Variables &amp; Data Types</a:t>
            </a:r>
            <a:r>
              <a:rPr lang="en-IN" sz="2000" dirty="0"/>
              <a:t> – store income, budget, expenses, etc.</a:t>
            </a:r>
          </a:p>
          <a:p>
            <a:pPr marL="285750" indent="-285750">
              <a:buFont typeface="Wingdings" panose="05000000000000000000" pitchFamily="2" charset="2"/>
              <a:buChar char="q"/>
            </a:pPr>
            <a:r>
              <a:rPr lang="en-IN" sz="2000" b="1" dirty="0"/>
              <a:t>Scanner / Input &amp; Output</a:t>
            </a:r>
            <a:r>
              <a:rPr lang="en-IN" sz="2000" dirty="0"/>
              <a:t> – take user details.</a:t>
            </a:r>
          </a:p>
          <a:p>
            <a:pPr marL="285750" indent="-285750">
              <a:buFont typeface="Wingdings" panose="05000000000000000000" pitchFamily="2" charset="2"/>
              <a:buChar char="q"/>
            </a:pPr>
            <a:r>
              <a:rPr lang="en-IN" sz="2000" b="1" dirty="0"/>
              <a:t>Arithmetic Operators</a:t>
            </a:r>
            <a:r>
              <a:rPr lang="en-IN" sz="2000" dirty="0"/>
              <a:t> – calculate total expenses, balance, savings.</a:t>
            </a:r>
          </a:p>
          <a:p>
            <a:pPr marL="285750" indent="-285750">
              <a:buFont typeface="Wingdings" panose="05000000000000000000" pitchFamily="2" charset="2"/>
              <a:buChar char="q"/>
            </a:pPr>
            <a:r>
              <a:rPr lang="en-IN" sz="2000" b="1" dirty="0"/>
              <a:t>Relational Operators</a:t>
            </a:r>
            <a:r>
              <a:rPr lang="en-IN" sz="2000" dirty="0"/>
              <a:t> – compare expenses with the budget.</a:t>
            </a:r>
          </a:p>
          <a:p>
            <a:pPr marL="285750" indent="-285750">
              <a:buFont typeface="Wingdings" panose="05000000000000000000" pitchFamily="2" charset="2"/>
              <a:buChar char="q"/>
            </a:pPr>
            <a:r>
              <a:rPr lang="en-IN" sz="2000" b="1" dirty="0"/>
              <a:t>Logical Operators</a:t>
            </a:r>
            <a:r>
              <a:rPr lang="en-IN" sz="2000" dirty="0"/>
              <a:t> – combine multiple conditions.</a:t>
            </a:r>
          </a:p>
          <a:p>
            <a:pPr marL="285750" indent="-285750">
              <a:buFont typeface="Wingdings" panose="05000000000000000000" pitchFamily="2" charset="2"/>
              <a:buChar char="q"/>
            </a:pPr>
            <a:r>
              <a:rPr lang="en-IN" sz="2000" b="1" dirty="0"/>
              <a:t>Increment/Decrement Operators</a:t>
            </a:r>
            <a:r>
              <a:rPr lang="en-IN" sz="2000" dirty="0"/>
              <a:t> – maintain expense counters.</a:t>
            </a:r>
          </a:p>
          <a:p>
            <a:pPr marL="285750" indent="-285750">
              <a:buFont typeface="Wingdings" panose="05000000000000000000" pitchFamily="2" charset="2"/>
              <a:buChar char="q"/>
            </a:pPr>
            <a:r>
              <a:rPr lang="en-IN" sz="2000" b="1" dirty="0"/>
              <a:t>Ternary Operator</a:t>
            </a:r>
            <a:r>
              <a:rPr lang="en-IN" sz="2000" dirty="0"/>
              <a:t> – for simple conditions such as checking whether the budget is exceeded.</a:t>
            </a:r>
          </a:p>
          <a:p>
            <a:pPr marL="285750" indent="-285750">
              <a:buFont typeface="Wingdings" panose="05000000000000000000" pitchFamily="2" charset="2"/>
              <a:buChar char="q"/>
            </a:pPr>
            <a:r>
              <a:rPr lang="en-IN" sz="2000" b="1" dirty="0"/>
              <a:t>Type Casting</a:t>
            </a:r>
            <a:r>
              <a:rPr lang="en-IN" sz="2000" dirty="0"/>
              <a:t> – useful for percentage/average calculations.</a:t>
            </a:r>
            <a:endParaRPr lang="en-IN" dirty="0"/>
          </a:p>
          <a:p>
            <a:endParaRPr lang="en-IN" dirty="0"/>
          </a:p>
        </p:txBody>
      </p:sp>
      <p:sp>
        <p:nvSpPr>
          <p:cNvPr id="4" name="Date Placeholder 3">
            <a:extLst>
              <a:ext uri="{FF2B5EF4-FFF2-40B4-BE49-F238E27FC236}">
                <a16:creationId xmlns=""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pPr/>
              <a:t>16-10-2026</a:t>
            </a:fld>
            <a:endParaRPr lang="en-IN"/>
          </a:p>
        </p:txBody>
      </p:sp>
      <p:sp>
        <p:nvSpPr>
          <p:cNvPr id="5" name="Slide Number Placeholder 4">
            <a:extLst>
              <a:ext uri="{FF2B5EF4-FFF2-40B4-BE49-F238E27FC236}">
                <a16:creationId xmlns=""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pPr/>
              <a:t>4</a:t>
            </a:fld>
            <a:endParaRPr lang="en-IN"/>
          </a:p>
        </p:txBody>
      </p:sp>
    </p:spTree>
    <p:extLst>
      <p:ext uri="{BB962C8B-B14F-4D97-AF65-F5344CB8AC3E}">
        <p14:creationId xmlns="" xmlns:p14="http://schemas.microsoft.com/office/powerpoint/2010/main" val="41042427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54FDF4-A21D-11D6-CA7A-382058E2F499}"/>
              </a:ext>
            </a:extLst>
          </p:cNvPr>
          <p:cNvSpPr>
            <a:spLocks noGrp="1"/>
          </p:cNvSpPr>
          <p:nvPr>
            <p:ph type="title"/>
          </p:nvPr>
        </p:nvSpPr>
        <p:spPr/>
        <p:txBody>
          <a:bodyPr/>
          <a:lstStyle/>
          <a:p>
            <a:r>
              <a:rPr lang="en-IN" b="1" dirty="0"/>
              <a:t>Co 2 TOPICS</a:t>
            </a:r>
          </a:p>
        </p:txBody>
      </p:sp>
      <p:sp>
        <p:nvSpPr>
          <p:cNvPr id="3" name="Content Placeholder 2">
            <a:extLst>
              <a:ext uri="{FF2B5EF4-FFF2-40B4-BE49-F238E27FC236}">
                <a16:creationId xmlns="" xmlns:a16="http://schemas.microsoft.com/office/drawing/2014/main" id="{78027864-8698-BA0E-D44D-3E693AAB48AD}"/>
              </a:ext>
            </a:extLst>
          </p:cNvPr>
          <p:cNvSpPr>
            <a:spLocks noGrp="1"/>
          </p:cNvSpPr>
          <p:nvPr>
            <p:ph idx="1"/>
          </p:nvPr>
        </p:nvSpPr>
        <p:spPr/>
        <p:txBody>
          <a:bodyPr/>
          <a:lstStyle/>
          <a:p>
            <a:pPr marL="285750" indent="-285750">
              <a:buFont typeface="Wingdings" panose="05000000000000000000" pitchFamily="2" charset="2"/>
              <a:buChar char="q"/>
            </a:pPr>
            <a:r>
              <a:rPr lang="en-IN" sz="2400" b="1" dirty="0"/>
              <a:t>Conditional Statements</a:t>
            </a:r>
            <a:r>
              <a:rPr lang="en-IN" sz="2400" dirty="0"/>
              <a:t> – if, if-else, else-if for budget checking and categorization.</a:t>
            </a:r>
          </a:p>
          <a:p>
            <a:pPr marL="285750" indent="-285750">
              <a:buFont typeface="Wingdings" panose="05000000000000000000" pitchFamily="2" charset="2"/>
              <a:buChar char="q"/>
            </a:pPr>
            <a:r>
              <a:rPr lang="en-IN" sz="2400" b="1" smtClean="0"/>
              <a:t>Loops</a:t>
            </a:r>
            <a:r>
              <a:rPr lang="en-IN" sz="2400" smtClean="0"/>
              <a:t> </a:t>
            </a:r>
            <a:r>
              <a:rPr lang="en-IN" sz="2400" dirty="0"/>
              <a:t>– repeatedly enter multiple expenses.</a:t>
            </a:r>
          </a:p>
          <a:p>
            <a:pPr marL="285750" indent="-285750">
              <a:buFont typeface="Wingdings" panose="05000000000000000000" pitchFamily="2" charset="2"/>
              <a:buChar char="q"/>
            </a:pPr>
            <a:r>
              <a:rPr lang="en-IN" sz="2400" dirty="0"/>
              <a:t>break</a:t>
            </a:r>
            <a:r>
              <a:rPr lang="en-IN" sz="2400" b="1" dirty="0"/>
              <a:t> Statement</a:t>
            </a:r>
            <a:r>
              <a:rPr lang="en-IN" sz="2400" dirty="0"/>
              <a:t> – exit a menu or loop when required.</a:t>
            </a:r>
          </a:p>
          <a:p>
            <a:pPr marL="285750" indent="-285750">
              <a:buFont typeface="Wingdings" panose="05000000000000000000" pitchFamily="2" charset="2"/>
              <a:buChar char="q"/>
            </a:pPr>
            <a:r>
              <a:rPr lang="en-IN" sz="2400" dirty="0"/>
              <a:t>continue</a:t>
            </a:r>
            <a:r>
              <a:rPr lang="en-IN" sz="2400" b="1" dirty="0"/>
              <a:t> Statement</a:t>
            </a:r>
            <a:r>
              <a:rPr lang="en-IN" sz="2400" dirty="0"/>
              <a:t> – skip an invalid expense entry.</a:t>
            </a:r>
          </a:p>
          <a:p>
            <a:pPr marL="285750" indent="-285750">
              <a:buFont typeface="Wingdings" panose="05000000000000000000" pitchFamily="2" charset="2"/>
              <a:buChar char="q"/>
            </a:pPr>
            <a:endParaRPr lang="en-IN" dirty="0"/>
          </a:p>
        </p:txBody>
      </p:sp>
      <p:sp>
        <p:nvSpPr>
          <p:cNvPr id="4" name="Date Placeholder 3">
            <a:extLst>
              <a:ext uri="{FF2B5EF4-FFF2-40B4-BE49-F238E27FC236}">
                <a16:creationId xmlns=""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pPr/>
              <a:t>16-10-2026</a:t>
            </a:fld>
            <a:endParaRPr lang="en-IN"/>
          </a:p>
        </p:txBody>
      </p:sp>
      <p:sp>
        <p:nvSpPr>
          <p:cNvPr id="5" name="Slide Number Placeholder 4">
            <a:extLst>
              <a:ext uri="{FF2B5EF4-FFF2-40B4-BE49-F238E27FC236}">
                <a16:creationId xmlns=""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pPr/>
              <a:t>5</a:t>
            </a:fld>
            <a:endParaRPr lang="en-IN"/>
          </a:p>
        </p:txBody>
      </p:sp>
    </p:spTree>
    <p:extLst>
      <p:ext uri="{BB962C8B-B14F-4D97-AF65-F5344CB8AC3E}">
        <p14:creationId xmlns="" xmlns:p14="http://schemas.microsoft.com/office/powerpoint/2010/main" val="417811176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3BDDFB-DFEC-7A21-D889-17965A225820}"/>
              </a:ext>
            </a:extLst>
          </p:cNvPr>
          <p:cNvSpPr>
            <a:spLocks noGrp="1"/>
          </p:cNvSpPr>
          <p:nvPr>
            <p:ph type="title"/>
          </p:nvPr>
        </p:nvSpPr>
        <p:spPr/>
        <p:txBody>
          <a:bodyPr/>
          <a:lstStyle/>
          <a:p>
            <a:r>
              <a:rPr lang="en-IN" b="1" dirty="0"/>
              <a:t>CO 3 Topics</a:t>
            </a:r>
          </a:p>
        </p:txBody>
      </p:sp>
      <p:sp>
        <p:nvSpPr>
          <p:cNvPr id="3" name="Content Placeholder 2">
            <a:extLst>
              <a:ext uri="{FF2B5EF4-FFF2-40B4-BE49-F238E27FC236}">
                <a16:creationId xmlns="" xmlns:a16="http://schemas.microsoft.com/office/drawing/2014/main" id="{AE8ACD64-BF58-761A-504E-C381351EE857}"/>
              </a:ext>
            </a:extLst>
          </p:cNvPr>
          <p:cNvSpPr>
            <a:spLocks noGrp="1"/>
          </p:cNvSpPr>
          <p:nvPr>
            <p:ph idx="1"/>
          </p:nvPr>
        </p:nvSpPr>
        <p:spPr/>
        <p:txBody>
          <a:bodyPr/>
          <a:lstStyle/>
          <a:p>
            <a:pPr marL="285750" indent="-285750">
              <a:buFont typeface="Wingdings" panose="05000000000000000000" pitchFamily="2" charset="2"/>
              <a:buChar char="q"/>
            </a:pPr>
            <a:r>
              <a:rPr lang="en-IN" sz="2400" b="1" dirty="0"/>
              <a:t>Arrays</a:t>
            </a:r>
            <a:r>
              <a:rPr lang="en-IN" sz="2400" dirty="0"/>
              <a:t> – store multiple expense amounts/categories.</a:t>
            </a:r>
          </a:p>
          <a:p>
            <a:pPr marL="285750" indent="-285750">
              <a:buFont typeface="Wingdings" panose="05000000000000000000" pitchFamily="2" charset="2"/>
              <a:buChar char="q"/>
            </a:pPr>
            <a:r>
              <a:rPr lang="en-IN" sz="2400" b="1" dirty="0"/>
              <a:t>Methods</a:t>
            </a:r>
            <a:r>
              <a:rPr lang="en-IN" sz="2400" dirty="0"/>
              <a:t> – separate functions for calculating totals, balance, and displaying results.</a:t>
            </a:r>
          </a:p>
          <a:p>
            <a:pPr marL="285750" indent="-285750">
              <a:buFont typeface="Wingdings" panose="05000000000000000000" pitchFamily="2" charset="2"/>
              <a:buChar char="q"/>
            </a:pPr>
            <a:endParaRPr lang="en-IN" dirty="0"/>
          </a:p>
        </p:txBody>
      </p:sp>
      <p:sp>
        <p:nvSpPr>
          <p:cNvPr id="4" name="Date Placeholder 3">
            <a:extLst>
              <a:ext uri="{FF2B5EF4-FFF2-40B4-BE49-F238E27FC236}">
                <a16:creationId xmlns=""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pPr/>
              <a:t>16-10-2026</a:t>
            </a:fld>
            <a:endParaRPr lang="en-IN"/>
          </a:p>
        </p:txBody>
      </p:sp>
      <p:sp>
        <p:nvSpPr>
          <p:cNvPr id="5" name="Slide Number Placeholder 4">
            <a:extLst>
              <a:ext uri="{FF2B5EF4-FFF2-40B4-BE49-F238E27FC236}">
                <a16:creationId xmlns=""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pPr/>
              <a:t>6</a:t>
            </a:fld>
            <a:endParaRPr lang="en-IN"/>
          </a:p>
        </p:txBody>
      </p:sp>
    </p:spTree>
    <p:extLst>
      <p:ext uri="{BB962C8B-B14F-4D97-AF65-F5344CB8AC3E}">
        <p14:creationId xmlns="" xmlns:p14="http://schemas.microsoft.com/office/powerpoint/2010/main" val="186987542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 4 TOPICS</a:t>
            </a:r>
            <a:endParaRPr lang="en-US" b="1" dirty="0"/>
          </a:p>
        </p:txBody>
      </p:sp>
      <p:sp>
        <p:nvSpPr>
          <p:cNvPr id="3" name="Content Placeholder 2"/>
          <p:cNvSpPr>
            <a:spLocks noGrp="1"/>
          </p:cNvSpPr>
          <p:nvPr>
            <p:ph idx="1"/>
          </p:nvPr>
        </p:nvSpPr>
        <p:spPr/>
        <p:txBody>
          <a:bodyPr/>
          <a:lstStyle/>
          <a:p>
            <a:r>
              <a:rPr lang="en-US" sz="2400" b="1" dirty="0" smtClean="0"/>
              <a:t>□ Classes &amp; Objects </a:t>
            </a:r>
            <a:r>
              <a:rPr lang="en-US" sz="2400" dirty="0" smtClean="0"/>
              <a:t>– create expense records.</a:t>
            </a:r>
          </a:p>
          <a:p>
            <a:r>
              <a:rPr lang="en-US" sz="2400" b="1" dirty="0" smtClean="0"/>
              <a:t>□ Constructors </a:t>
            </a:r>
            <a:r>
              <a:rPr lang="en-US" sz="2400" dirty="0" smtClean="0"/>
              <a:t>– initialize expense details.</a:t>
            </a:r>
          </a:p>
          <a:p>
            <a:r>
              <a:rPr lang="en-US" sz="2400" b="1" dirty="0" smtClean="0"/>
              <a:t>□ Encapsulation </a:t>
            </a:r>
            <a:r>
              <a:rPr lang="en-US" sz="2400" dirty="0" smtClean="0"/>
              <a:t>– protect data using private variables.</a:t>
            </a:r>
          </a:p>
          <a:p>
            <a:r>
              <a:rPr lang="en-US" sz="2400" b="1" dirty="0" smtClean="0"/>
              <a:t>□ Inheritance </a:t>
            </a:r>
            <a:r>
              <a:rPr lang="en-US" sz="2400" dirty="0" smtClean="0"/>
              <a:t>– reuse code from another class.</a:t>
            </a:r>
          </a:p>
          <a:p>
            <a:r>
              <a:rPr lang="en-US" sz="2400" b="1" dirty="0" smtClean="0"/>
              <a:t>□ Method Overriding </a:t>
            </a:r>
            <a:r>
              <a:rPr lang="en-US" sz="2400" dirty="0" smtClean="0"/>
              <a:t>– redefine a method in a subclass.</a:t>
            </a:r>
          </a:p>
          <a:p>
            <a:r>
              <a:rPr lang="en-US" sz="2400" b="1" dirty="0" smtClean="0"/>
              <a:t>□ Exception Handling </a:t>
            </a:r>
            <a:r>
              <a:rPr lang="en-US" sz="2400" dirty="0" smtClean="0"/>
              <a:t>– handle errors using try-catch.</a:t>
            </a:r>
          </a:p>
          <a:p>
            <a:endParaRPr lang="en-US" dirty="0" smtClean="0"/>
          </a:p>
        </p:txBody>
      </p:sp>
      <p:sp>
        <p:nvSpPr>
          <p:cNvPr id="4" name="Date Placeholder 3"/>
          <p:cNvSpPr>
            <a:spLocks noGrp="1"/>
          </p:cNvSpPr>
          <p:nvPr>
            <p:ph type="dt" sz="half" idx="10"/>
          </p:nvPr>
        </p:nvSpPr>
        <p:spPr/>
        <p:txBody>
          <a:bodyPr/>
          <a:lstStyle/>
          <a:p>
            <a:fld id="{07DE2E10-B9C9-4696-8C2C-567691D9BBFD}" type="datetime1">
              <a:rPr lang="en-IN" smtClean="0"/>
              <a:pPr/>
              <a:t>16-10-2026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pPr/>
              <a:t>7</a:t>
            </a:fld>
            <a:endParaRPr lang="en-IN"/>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 5 TOPICS</a:t>
            </a:r>
            <a:endParaRPr lang="en-US" b="1" dirty="0"/>
          </a:p>
        </p:txBody>
      </p:sp>
      <p:sp>
        <p:nvSpPr>
          <p:cNvPr id="3" name="Content Placeholder 2"/>
          <p:cNvSpPr>
            <a:spLocks noGrp="1"/>
          </p:cNvSpPr>
          <p:nvPr>
            <p:ph idx="1"/>
          </p:nvPr>
        </p:nvSpPr>
        <p:spPr/>
        <p:txBody>
          <a:bodyPr/>
          <a:lstStyle/>
          <a:p>
            <a:r>
              <a:rPr lang="en-US" sz="2400" b="1" dirty="0" smtClean="0"/>
              <a:t>□ Strings </a:t>
            </a:r>
            <a:r>
              <a:rPr lang="en-US" sz="2400" dirty="0" smtClean="0"/>
              <a:t>– store expense categories and status.</a:t>
            </a:r>
          </a:p>
          <a:p>
            <a:r>
              <a:rPr lang="en-US" sz="2400" b="1" dirty="0" smtClean="0"/>
              <a:t>□ </a:t>
            </a:r>
            <a:r>
              <a:rPr lang="en-US" sz="2400" b="1" dirty="0" err="1" smtClean="0"/>
              <a:t>StringBuilder</a:t>
            </a:r>
            <a:r>
              <a:rPr lang="en-US" sz="2400" b="1" dirty="0" smtClean="0"/>
              <a:t> </a:t>
            </a:r>
            <a:r>
              <a:rPr lang="en-US" sz="2400" dirty="0" smtClean="0"/>
              <a:t>– create the expense report.</a:t>
            </a:r>
          </a:p>
          <a:p>
            <a:r>
              <a:rPr lang="en-US" sz="2400" b="1" dirty="0" smtClean="0"/>
              <a:t>□ Searching </a:t>
            </a:r>
            <a:r>
              <a:rPr lang="en-US" sz="2400" dirty="0" smtClean="0"/>
              <a:t>– find expenses by category.</a:t>
            </a:r>
          </a:p>
          <a:p>
            <a:r>
              <a:rPr lang="en-US" sz="2400" b="1" dirty="0" smtClean="0"/>
              <a:t>□ Sorting </a:t>
            </a:r>
            <a:r>
              <a:rPr lang="en-US" sz="2400" dirty="0" smtClean="0"/>
              <a:t>– arrange expenses by amount.</a:t>
            </a:r>
          </a:p>
          <a:p>
            <a:r>
              <a:rPr lang="en-US" sz="2400" b="1" dirty="0" smtClean="0"/>
              <a:t>□ File Handling </a:t>
            </a:r>
            <a:r>
              <a:rPr lang="en-US" sz="2400" dirty="0" smtClean="0"/>
              <a:t>– save and read the expense report.</a:t>
            </a:r>
          </a:p>
          <a:p>
            <a:r>
              <a:rPr lang="en-US" sz="2400" b="1" dirty="0" smtClean="0"/>
              <a:t>□ Exception Handling </a:t>
            </a:r>
            <a:r>
              <a:rPr lang="en-US" sz="2400" dirty="0" smtClean="0"/>
              <a:t>– handle file errors</a:t>
            </a:r>
          </a:p>
          <a:p>
            <a:endParaRPr lang="en-US" dirty="0"/>
          </a:p>
        </p:txBody>
      </p:sp>
      <p:sp>
        <p:nvSpPr>
          <p:cNvPr id="4" name="Date Placeholder 3"/>
          <p:cNvSpPr>
            <a:spLocks noGrp="1"/>
          </p:cNvSpPr>
          <p:nvPr>
            <p:ph type="dt" sz="half" idx="10"/>
          </p:nvPr>
        </p:nvSpPr>
        <p:spPr/>
        <p:txBody>
          <a:bodyPr/>
          <a:lstStyle/>
          <a:p>
            <a:fld id="{07DE2E10-B9C9-4696-8C2C-567691D9BBFD}" type="datetime1">
              <a:rPr lang="en-IN" smtClean="0"/>
              <a:pPr/>
              <a:t>16-10-2026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pPr/>
              <a:t>8</a:t>
            </a:fld>
            <a:endParaRPr lang="en-IN"/>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 6 TOPICS</a:t>
            </a:r>
            <a:endParaRPr lang="en-US" b="1" dirty="0"/>
          </a:p>
        </p:txBody>
      </p:sp>
      <p:sp>
        <p:nvSpPr>
          <p:cNvPr id="3" name="Content Placeholder 2"/>
          <p:cNvSpPr>
            <a:spLocks noGrp="1"/>
          </p:cNvSpPr>
          <p:nvPr>
            <p:ph idx="1"/>
          </p:nvPr>
        </p:nvSpPr>
        <p:spPr/>
        <p:txBody>
          <a:bodyPr/>
          <a:lstStyle/>
          <a:p>
            <a:r>
              <a:rPr lang="en-US" sz="2400" b="1" dirty="0" smtClean="0"/>
              <a:t>□ </a:t>
            </a:r>
            <a:r>
              <a:rPr lang="en-US" sz="2400" b="1" dirty="0" err="1" smtClean="0"/>
              <a:t>ArrayList</a:t>
            </a:r>
            <a:r>
              <a:rPr lang="en-US" sz="2400" b="1" dirty="0" smtClean="0"/>
              <a:t> – </a:t>
            </a:r>
            <a:r>
              <a:rPr lang="en-US" sz="2400" dirty="0" smtClean="0"/>
              <a:t>store multiple expenses.</a:t>
            </a:r>
          </a:p>
          <a:p>
            <a:r>
              <a:rPr lang="en-US" sz="2400" b="1" dirty="0" smtClean="0"/>
              <a:t>□ Lambda Expressions – </a:t>
            </a:r>
            <a:r>
              <a:rPr lang="en-US" sz="2400" dirty="0" smtClean="0"/>
              <a:t>sort expenses by amount.</a:t>
            </a:r>
          </a:p>
          <a:p>
            <a:r>
              <a:rPr lang="en-US" sz="2400" b="1" dirty="0" smtClean="0"/>
              <a:t>□ Stream API – </a:t>
            </a:r>
            <a:r>
              <a:rPr lang="en-US" sz="2400" dirty="0" smtClean="0"/>
              <a:t>process expense records.</a:t>
            </a:r>
          </a:p>
          <a:p>
            <a:r>
              <a:rPr lang="en-US" sz="2400" b="1" dirty="0" smtClean="0"/>
              <a:t>□ Calculating Total – </a:t>
            </a:r>
            <a:r>
              <a:rPr lang="en-US" sz="2400" dirty="0" smtClean="0"/>
              <a:t>find total expenses using sum().</a:t>
            </a:r>
          </a:p>
          <a:p>
            <a:r>
              <a:rPr lang="en-US" sz="2400" b="1" dirty="0" smtClean="0"/>
              <a:t>□ Filtering – </a:t>
            </a:r>
            <a:r>
              <a:rPr lang="en-US" sz="2400" dirty="0" smtClean="0"/>
              <a:t>find expenses of ₹1,000 or more.</a:t>
            </a:r>
          </a:p>
          <a:p>
            <a:r>
              <a:rPr lang="en-US" sz="2400" b="1" dirty="0" smtClean="0"/>
              <a:t>□ </a:t>
            </a:r>
            <a:r>
              <a:rPr lang="en-US" sz="2400" b="1" dirty="0" err="1" smtClean="0"/>
              <a:t>forEach</a:t>
            </a:r>
            <a:r>
              <a:rPr lang="en-US" sz="2400" b="1" dirty="0" smtClean="0"/>
              <a:t>() – </a:t>
            </a:r>
            <a:r>
              <a:rPr lang="en-US" sz="2400" dirty="0" smtClean="0"/>
              <a:t>display expense details.</a:t>
            </a:r>
          </a:p>
          <a:p>
            <a:endParaRPr lang="en-US" dirty="0"/>
          </a:p>
        </p:txBody>
      </p:sp>
      <p:sp>
        <p:nvSpPr>
          <p:cNvPr id="4" name="Date Placeholder 3"/>
          <p:cNvSpPr>
            <a:spLocks noGrp="1"/>
          </p:cNvSpPr>
          <p:nvPr>
            <p:ph type="dt" sz="half" idx="10"/>
          </p:nvPr>
        </p:nvSpPr>
        <p:spPr/>
        <p:txBody>
          <a:bodyPr/>
          <a:lstStyle/>
          <a:p>
            <a:fld id="{07DE2E10-B9C9-4696-8C2C-567691D9BBFD}" type="datetime1">
              <a:rPr lang="en-IN" smtClean="0"/>
              <a:pPr/>
              <a:t>16-10-2026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pPr/>
              <a:t>9</a:t>
            </a:fld>
            <a:endParaRPr lang="en-IN"/>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SCREENSHOTS</a:t>
            </a:r>
            <a:endParaRPr lang="en-US" b="1" dirty="0"/>
          </a:p>
        </p:txBody>
      </p:sp>
      <p:sp>
        <p:nvSpPr>
          <p:cNvPr id="4" name="Date Placeholder 3"/>
          <p:cNvSpPr>
            <a:spLocks noGrp="1"/>
          </p:cNvSpPr>
          <p:nvPr>
            <p:ph type="dt" sz="half" idx="10"/>
          </p:nvPr>
        </p:nvSpPr>
        <p:spPr/>
        <p:txBody>
          <a:bodyPr/>
          <a:lstStyle/>
          <a:p>
            <a:fld id="{07DE2E10-B9C9-4696-8C2C-567691D9BBFD}" type="datetime1">
              <a:rPr lang="en-IN" smtClean="0"/>
              <a:pPr/>
              <a:t>16-10-2026</a:t>
            </a:fld>
            <a:endParaRPr lang="en-IN" dirty="0"/>
          </a:p>
        </p:txBody>
      </p:sp>
      <p:sp>
        <p:nvSpPr>
          <p:cNvPr id="5" name="Slide Number Placeholder 4"/>
          <p:cNvSpPr>
            <a:spLocks noGrp="1"/>
          </p:cNvSpPr>
          <p:nvPr>
            <p:ph type="sldNum" sz="quarter" idx="12"/>
          </p:nvPr>
        </p:nvSpPr>
        <p:spPr/>
        <p:txBody>
          <a:bodyPr/>
          <a:lstStyle/>
          <a:p>
            <a:fld id="{CB012AB6-14AF-4351-87AD-D420B05274E1}" type="slidenum">
              <a:rPr lang="en-IN" smtClean="0"/>
              <a:pPr/>
              <a:t>10</a:t>
            </a:fld>
            <a:endParaRPr lang="en-IN"/>
          </a:p>
        </p:txBody>
      </p:sp>
      <p:pic>
        <p:nvPicPr>
          <p:cNvPr id="1028" name="Picture 4"/>
          <p:cNvPicPr>
            <a:picLocks noGrp="1" noChangeAspect="1" noChangeArrowheads="1"/>
          </p:cNvPicPr>
          <p:nvPr>
            <p:ph idx="1"/>
          </p:nvPr>
        </p:nvPicPr>
        <p:blipFill>
          <a:blip r:embed="rId2"/>
          <a:srcRect/>
          <a:stretch>
            <a:fillRect/>
          </a:stretch>
        </p:blipFill>
        <p:spPr bwMode="auto">
          <a:xfrm>
            <a:off x="749610" y="2245259"/>
            <a:ext cx="4753708" cy="41148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a:srcRect/>
          <a:stretch>
            <a:fillRect/>
          </a:stretch>
        </p:blipFill>
        <p:spPr bwMode="auto">
          <a:xfrm>
            <a:off x="6342315" y="2046083"/>
            <a:ext cx="4743450" cy="4345663"/>
          </a:xfrm>
          <a:prstGeom prst="rect">
            <a:avLst/>
          </a:prstGeom>
          <a:noFill/>
          <a:ln w="9525">
            <a:noFill/>
            <a:miter lim="800000"/>
            <a:headEnd/>
            <a:tailEnd/>
          </a:ln>
          <a:effectLst/>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endParaRPr lang="en-US" b="1" dirty="0"/>
          </a:p>
        </p:txBody>
      </p:sp>
      <p:sp>
        <p:nvSpPr>
          <p:cNvPr id="3" name="Content Placeholder 2"/>
          <p:cNvSpPr>
            <a:spLocks noGrp="1"/>
          </p:cNvSpPr>
          <p:nvPr>
            <p:ph idx="1"/>
          </p:nvPr>
        </p:nvSpPr>
        <p:spPr/>
        <p:txBody>
          <a:bodyPr/>
          <a:lstStyle/>
          <a:p>
            <a:r>
              <a:rPr lang="en-US" dirty="0" smtClean="0"/>
              <a:t>The Monthly Expense and Budget Analyzer is a simple and effective system designed to help users manage their monthly income, expenses, and savings.</a:t>
            </a:r>
          </a:p>
          <a:p>
            <a:pPr>
              <a:buFont typeface="Arial" pitchFamily="34" charset="0"/>
              <a:buChar char="•"/>
            </a:pPr>
            <a:r>
              <a:rPr lang="en-US" dirty="0" smtClean="0"/>
              <a:t>It helps users record and categorize their daily expenses.</a:t>
            </a:r>
          </a:p>
          <a:p>
            <a:pPr>
              <a:buFont typeface="Arial" pitchFamily="34" charset="0"/>
              <a:buChar char="•"/>
            </a:pPr>
            <a:r>
              <a:rPr lang="en-US" dirty="0" smtClean="0"/>
              <a:t>It automatically calculates total expenses and the remaining budget.</a:t>
            </a:r>
          </a:p>
          <a:p>
            <a:pPr>
              <a:buFont typeface="Arial" pitchFamily="34" charset="0"/>
              <a:buChar char="•"/>
            </a:pPr>
            <a:r>
              <a:rPr lang="en-US" dirty="0" smtClean="0"/>
              <a:t>It reduces manual calculations, saves time, and minimizes errors.</a:t>
            </a:r>
          </a:p>
          <a:p>
            <a:pPr>
              <a:buFont typeface="Arial" pitchFamily="34" charset="0"/>
              <a:buChar char="•"/>
            </a:pPr>
            <a:r>
              <a:rPr lang="en-US" dirty="0" smtClean="0"/>
              <a:t>It helps users understand their spending habits by organizing expenses into Needs, Wants, and Savings.</a:t>
            </a:r>
          </a:p>
          <a:p>
            <a:pPr>
              <a:buFont typeface="Arial" pitchFamily="34" charset="0"/>
              <a:buChar char="•"/>
            </a:pPr>
            <a:r>
              <a:rPr lang="en-US" dirty="0" smtClean="0"/>
              <a:t>It demonstrates the practical application of Java programming concepts such as variables, operators, loops, arrays, methods, and classes.</a:t>
            </a:r>
          </a:p>
          <a:p>
            <a:r>
              <a:rPr lang="en-US" dirty="0" smtClean="0"/>
              <a:t>Overall, this project encourages better financial planning, organized expense tracking, and smarter money management.</a:t>
            </a:r>
          </a:p>
          <a:p>
            <a:endParaRPr lang="en-US" dirty="0"/>
          </a:p>
        </p:txBody>
      </p:sp>
      <p:sp>
        <p:nvSpPr>
          <p:cNvPr id="4" name="Date Placeholder 3"/>
          <p:cNvSpPr>
            <a:spLocks noGrp="1"/>
          </p:cNvSpPr>
          <p:nvPr>
            <p:ph type="dt" sz="half" idx="10"/>
          </p:nvPr>
        </p:nvSpPr>
        <p:spPr/>
        <p:txBody>
          <a:bodyPr/>
          <a:lstStyle/>
          <a:p>
            <a:fld id="{07DE2E10-B9C9-4696-8C2C-567691D9BBFD}" type="datetime1">
              <a:rPr lang="en-IN" smtClean="0"/>
              <a:pPr/>
              <a:t>16-10-2026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pPr/>
              <a:t>11</a:t>
            </a:fld>
            <a:endParaRPr lang="en-IN"/>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CEF2EB-DC8E-A39F-8C45-4CB81854799A}"/>
              </a:ext>
            </a:extLst>
          </p:cNvPr>
          <p:cNvSpPr>
            <a:spLocks noGrp="1"/>
          </p:cNvSpPr>
          <p:nvPr>
            <p:ph type="title"/>
          </p:nvPr>
        </p:nvSpPr>
        <p:spPr/>
        <p:txBody>
          <a:bodyPr/>
          <a:lstStyle/>
          <a:p>
            <a:r>
              <a:rPr lang="en-IN" b="1" dirty="0"/>
              <a:t>Geo Tag Photo and git hub link</a:t>
            </a:r>
          </a:p>
        </p:txBody>
      </p:sp>
      <p:sp>
        <p:nvSpPr>
          <p:cNvPr id="3" name="Content Placeholder 2">
            <a:extLst>
              <a:ext uri="{FF2B5EF4-FFF2-40B4-BE49-F238E27FC236}">
                <a16:creationId xmlns="" xmlns:a16="http://schemas.microsoft.com/office/drawing/2014/main" id="{764E026B-5FC7-651F-1236-75071A9D26C5}"/>
              </a:ext>
            </a:extLst>
          </p:cNvPr>
          <p:cNvSpPr>
            <a:spLocks noGrp="1"/>
          </p:cNvSpPr>
          <p:nvPr>
            <p:ph idx="1"/>
          </p:nvPr>
        </p:nvSpPr>
        <p:spPr/>
        <p:txBody>
          <a:bodyPr/>
          <a:lstStyle/>
          <a:p>
            <a:pPr>
              <a:buFont typeface="Arial" pitchFamily="34" charset="0"/>
              <a:buChar char="•"/>
            </a:pPr>
            <a:r>
              <a:rPr lang="en-IN" sz="2000" b="1" dirty="0" smtClean="0">
                <a:hlinkClick r:id="rId2"/>
              </a:rPr>
              <a:t>https://github.com/saanvikanuganti</a:t>
            </a:r>
            <a:endParaRPr lang="en-IN" sz="2000" b="1" dirty="0" smtClean="0"/>
          </a:p>
          <a:p>
            <a:pPr>
              <a:buFont typeface="Arial" pitchFamily="34" charset="0"/>
              <a:buChar char="•"/>
            </a:pPr>
            <a:r>
              <a:rPr lang="en-US" sz="2000" b="1" dirty="0" smtClean="0">
                <a:hlinkClick r:id="rId3"/>
              </a:rPr>
              <a:t>https://github.com/ambatikusumasree</a:t>
            </a:r>
            <a:endParaRPr lang="en-US" sz="2000" b="1" dirty="0" smtClean="0"/>
          </a:p>
          <a:p>
            <a:endParaRPr lang="en-IN" dirty="0"/>
          </a:p>
        </p:txBody>
      </p:sp>
      <p:sp>
        <p:nvSpPr>
          <p:cNvPr id="4" name="Date Placeholder 3">
            <a:extLst>
              <a:ext uri="{FF2B5EF4-FFF2-40B4-BE49-F238E27FC236}">
                <a16:creationId xmlns=""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pPr/>
              <a:t>16-10-2026</a:t>
            </a:fld>
            <a:endParaRPr lang="en-IN"/>
          </a:p>
        </p:txBody>
      </p:sp>
      <p:sp>
        <p:nvSpPr>
          <p:cNvPr id="5" name="Slide Number Placeholder 4">
            <a:extLst>
              <a:ext uri="{FF2B5EF4-FFF2-40B4-BE49-F238E27FC236}">
                <a16:creationId xmlns=""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pPr/>
              <a:t>12</a:t>
            </a:fld>
            <a:endParaRPr lang="en-IN"/>
          </a:p>
        </p:txBody>
      </p:sp>
      <p:pic>
        <p:nvPicPr>
          <p:cNvPr id="1026" name="Picture 2"/>
          <p:cNvPicPr>
            <a:picLocks noChangeAspect="1" noChangeArrowheads="1"/>
          </p:cNvPicPr>
          <p:nvPr/>
        </p:nvPicPr>
        <p:blipFill>
          <a:blip r:embed="rId4"/>
          <a:srcRect/>
          <a:stretch>
            <a:fillRect/>
          </a:stretch>
        </p:blipFill>
        <p:spPr bwMode="auto">
          <a:xfrm>
            <a:off x="5500756" y="2017644"/>
            <a:ext cx="5601251" cy="4200938"/>
          </a:xfrm>
          <a:prstGeom prst="rect">
            <a:avLst/>
          </a:prstGeom>
          <a:noFill/>
          <a:ln w="9525">
            <a:noFill/>
            <a:miter lim="800000"/>
            <a:headEnd/>
            <a:tailEnd/>
          </a:ln>
          <a:effectLst/>
        </p:spPr>
      </p:pic>
    </p:spTree>
    <p:extLst>
      <p:ext uri="{BB962C8B-B14F-4D97-AF65-F5344CB8AC3E}">
        <p14:creationId xmlns="" xmlns:p14="http://schemas.microsoft.com/office/powerpoint/2010/main" val="139677704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445</TotalTime>
  <Words>929</Words>
  <Application>Microsoft Office PowerPoint</Application>
  <PresentationFormat>Custom</PresentationFormat>
  <Paragraphs>81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Archway</vt:lpstr>
      <vt:lpstr> Monthly Expense and Budget Analyzer </vt:lpstr>
      <vt:lpstr>Abstract</vt:lpstr>
      <vt:lpstr>Understanding Problem Statement</vt:lpstr>
      <vt:lpstr>CO 1 Topics</vt:lpstr>
      <vt:lpstr>Co 2 TOPICS</vt:lpstr>
      <vt:lpstr>CO 3 Topics</vt:lpstr>
      <vt:lpstr>CO 4 TOPICS</vt:lpstr>
      <vt:lpstr>CO 5 TOPICS</vt:lpstr>
      <vt:lpstr>CO 6 TOPICS</vt:lpstr>
      <vt:lpstr>SCREENSHOTS</vt:lpstr>
      <vt:lpstr>CONCLUSION</vt:lpstr>
      <vt:lpstr>Geo Tag Photo and git hub link</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Expense and Budget Analyzer</dc:title>
  <dc:creator>TSP MADHURI</dc:creator>
  <cp:lastModifiedBy>Kanuganti</cp:lastModifiedBy>
  <cp:revision>25</cp:revision>
  <dcterms:created xsi:type="dcterms:W3CDTF">2026-09-15T09:57:10Z</dcterms:created>
  <dcterms:modified xsi:type="dcterms:W3CDTF">2026-10-16T06:14:08Z</dcterms:modified>
</cp:coreProperties>
</file>